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8620125"/>
  <p:notesSz cx="8620125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78AF"/>
    <a:srgbClr val="4578B0"/>
    <a:srgbClr val="5E87B5"/>
    <a:srgbClr val="0F29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14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0427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620124"/>
          </a:xfrm>
          <a:prstGeom prst="roundRect">
            <a:avLst>
              <a:gd name="adj" fmla="val 221"/>
            </a:avLst>
          </a:prstGeom>
          <a:solidFill>
            <a:srgbClr val="F7F5EF"/>
          </a:solidFill>
          <a:ln/>
          <a:effectLst>
            <a:outerShdw blurRad="762000" dist="285750" dir="54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-182880" y="0"/>
            <a:ext cx="12557760" cy="8658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0" b="1" kern="0" spc="660" dirty="0">
                <a:solidFill>
                  <a:srgbClr val="0F2942">
                    <a:alpha val="4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AskMac</a:t>
            </a:r>
            <a:endParaRPr lang="en-US" sz="16500" dirty="0"/>
          </a:p>
        </p:txBody>
      </p:sp>
      <p:sp>
        <p:nvSpPr>
          <p:cNvPr id="4" name="Shape 2"/>
          <p:cNvSpPr/>
          <p:nvPr/>
        </p:nvSpPr>
        <p:spPr>
          <a:xfrm>
            <a:off x="266673" y="266673"/>
            <a:ext cx="11658653" cy="8086779"/>
          </a:xfrm>
          <a:prstGeom prst="rect">
            <a:avLst/>
          </a:prstGeom>
          <a:ln w="8659">
            <a:solidFill>
              <a:srgbClr val="0F2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2846" y="342846"/>
            <a:ext cx="11506308" cy="7934433"/>
          </a:xfrm>
          <a:prstGeom prst="rect">
            <a:avLst/>
          </a:prstGeom>
          <a:ln w="8659">
            <a:solidFill>
              <a:srgbClr val="6B8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9019" y="419019"/>
            <a:ext cx="11353962" cy="7782087"/>
          </a:xfrm>
          <a:prstGeom prst="rect">
            <a:avLst/>
          </a:prstGeom>
          <a:ln w="8659">
            <a:solidFill>
              <a:srgbClr val="0F2942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46" y="342846"/>
            <a:ext cx="1238250" cy="123825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610903" y="342846"/>
            <a:ext cx="1238250" cy="123825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46" y="7039029"/>
            <a:ext cx="1238250" cy="123825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610903" y="7039029"/>
            <a:ext cx="1238250" cy="12382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887686" y="867479"/>
            <a:ext cx="2754085" cy="889519"/>
          </a:xfrm>
          <a:prstGeom prst="rect">
            <a:avLst/>
          </a:prstGeom>
          <a:noFill/>
          <a:ln/>
          <a:effectLst>
            <a:outerShdw blurRad="19050" dist="9525" dir="5400000" algn="bl" rotWithShape="0">
              <a:srgbClr val="000000">
                <a:alpha val="2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3200" b="1" kern="0" spc="22" dirty="0">
                <a:solidFill>
                  <a:srgbClr val="0F2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    </a:t>
            </a:r>
            <a:r>
              <a:rPr lang="en-US" sz="3300" b="1" kern="0" spc="22" dirty="0" err="1">
                <a:solidFill>
                  <a:srgbClr val="0F2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AskMac</a:t>
            </a:r>
            <a:r>
              <a:rPr lang="en-US" sz="3200" b="1" kern="0" spc="22" dirty="0">
                <a:solidFill>
                  <a:srgbClr val="0F2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</a:t>
            </a:r>
          </a:p>
          <a:p>
            <a:r>
              <a:rPr lang="en-US" sz="2200" b="1" kern="0" spc="22" dirty="0">
                <a:solidFill>
                  <a:srgbClr val="4578AF"/>
                </a:solidFill>
                <a:latin typeface="Cormorant Garamond" pitchFamily="34" charset="0"/>
                <a:ea typeface="Cormorant Garamond" pitchFamily="34" charset="-122"/>
              </a:rPr>
              <a:t>Q1 2026 </a:t>
            </a:r>
            <a:r>
              <a:rPr lang="en-US" sz="2200" b="1" kern="0" spc="22" dirty="0">
                <a:solidFill>
                  <a:srgbClr val="4578B0"/>
                </a:solidFill>
                <a:latin typeface="Cormorant Garamond" pitchFamily="34" charset="0"/>
                <a:ea typeface="Cormorant Garamond" pitchFamily="34" charset="-122"/>
              </a:rPr>
              <a:t>Workshop</a:t>
            </a:r>
            <a:endParaRPr lang="en-US" sz="2200" b="1" kern="0" spc="22" dirty="0">
              <a:solidFill>
                <a:srgbClr val="4578B0"/>
              </a:solidFill>
              <a:latin typeface="Cormorant Garamond" pitchFamily="34" charset="0"/>
              <a:ea typeface="Cormorant Garamond" pitchFamily="34" charset="-122"/>
              <a:cs typeface="Cormorant Garamond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2250" dirty="0">
              <a:solidFill>
                <a:srgbClr val="0F2942"/>
              </a:solidFill>
            </a:endParaRPr>
          </a:p>
        </p:txBody>
      </p:sp>
      <p:sp>
        <p:nvSpPr>
          <p:cNvPr id="13" name="Shape 7"/>
          <p:cNvSpPr/>
          <p:nvPr/>
        </p:nvSpPr>
        <p:spPr>
          <a:xfrm>
            <a:off x="5810250" y="1316047"/>
            <a:ext cx="571500" cy="9525"/>
          </a:xfrm>
          <a:prstGeom prst="rect">
            <a:avLst/>
          </a:prstGeom>
          <a:solidFill>
            <a:srgbClr val="F7F5EF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/>
          <p:nvPr/>
        </p:nvSpPr>
        <p:spPr>
          <a:xfrm>
            <a:off x="5629492" y="1373142"/>
            <a:ext cx="1009217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825" dirty="0"/>
          </a:p>
        </p:txBody>
      </p:sp>
      <p:sp>
        <p:nvSpPr>
          <p:cNvPr id="15" name="Text 9"/>
          <p:cNvSpPr/>
          <p:nvPr/>
        </p:nvSpPr>
        <p:spPr>
          <a:xfrm>
            <a:off x="1072938" y="1866846"/>
            <a:ext cx="10046124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825" kern="0" spc="347" dirty="0">
                <a:solidFill>
                  <a:srgbClr val="3A6E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ASKMAC · LEARNING PROGRAMS</a:t>
            </a:r>
            <a:endParaRPr lang="en-US" sz="825" dirty="0"/>
          </a:p>
        </p:txBody>
      </p:sp>
      <p:sp>
        <p:nvSpPr>
          <p:cNvPr id="16" name="Text 10"/>
          <p:cNvSpPr/>
          <p:nvPr/>
        </p:nvSpPr>
        <p:spPr>
          <a:xfrm>
            <a:off x="1072938" y="2130001"/>
            <a:ext cx="10046124" cy="647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kern="0" spc="192" dirty="0">
                <a:solidFill>
                  <a:srgbClr val="0F2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Certificate </a:t>
            </a:r>
            <a:r>
              <a:rPr lang="en-US" sz="4800" i="1" kern="0" spc="192" dirty="0">
                <a:solidFill>
                  <a:srgbClr val="4A556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of </a:t>
            </a:r>
            <a:r>
              <a:rPr lang="en-US" sz="4800" kern="0" spc="192" dirty="0">
                <a:solidFill>
                  <a:srgbClr val="0F2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Completion</a:t>
            </a:r>
            <a:endParaRPr lang="en-US" sz="4800" dirty="0"/>
          </a:p>
        </p:txBody>
      </p:sp>
      <p:sp>
        <p:nvSpPr>
          <p:cNvPr id="17" name="Text 11"/>
          <p:cNvSpPr/>
          <p:nvPr/>
        </p:nvSpPr>
        <p:spPr>
          <a:xfrm>
            <a:off x="1072938" y="2911078"/>
            <a:ext cx="10046124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975" kern="0" spc="293" dirty="0">
                <a:solidFill>
                  <a:srgbClr val="4A55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ARTIFICIAL INTELLIGENCE WORKSHOP</a:t>
            </a:r>
            <a:endParaRPr lang="en-US" sz="975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182" y="3267724"/>
            <a:ext cx="2095500" cy="13326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98499" y="4095750"/>
            <a:ext cx="9795002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975" kern="0" spc="312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CERTIFICATE IS PROUDLY PRESENTED TO</a:t>
            </a:r>
            <a:endParaRPr lang="en-US" sz="975" dirty="0"/>
          </a:p>
        </p:txBody>
      </p:sp>
      <p:sp>
        <p:nvSpPr>
          <p:cNvPr id="20" name="Text 13"/>
          <p:cNvSpPr/>
          <p:nvPr/>
        </p:nvSpPr>
        <p:spPr>
          <a:xfrm>
            <a:off x="1198499" y="4414377"/>
            <a:ext cx="9795002" cy="781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850" b="1" kern="0" spc="29" dirty="0">
                <a:solidFill>
                  <a:srgbClr val="0F2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Anil Kotti</a:t>
            </a:r>
            <a:endParaRPr lang="en-US" sz="5850" dirty="0"/>
          </a:p>
        </p:txBody>
      </p:sp>
      <p:sp>
        <p:nvSpPr>
          <p:cNvPr id="21" name="Text 14"/>
          <p:cNvSpPr/>
          <p:nvPr/>
        </p:nvSpPr>
        <p:spPr>
          <a:xfrm>
            <a:off x="2367847" y="5623809"/>
            <a:ext cx="7456170" cy="5094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65000"/>
              </a:lnSpc>
              <a:buNone/>
            </a:pPr>
            <a:r>
              <a:rPr lang="en-US" sz="1125" dirty="0">
                <a:solidFill>
                  <a:srgbClr val="4A55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Awarded for demonstrating exceptional engagement, teamwork, and dedication to learning and building AI-driven solutions as part of the </a:t>
            </a:r>
            <a:r>
              <a:rPr lang="en-US" sz="1125" b="1" dirty="0">
                <a:solidFill>
                  <a:srgbClr val="0F29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Askmac AI Workshop </a:t>
            </a:r>
            <a:r>
              <a:rPr lang="en-US" sz="1125" dirty="0">
                <a:solidFill>
                  <a:srgbClr val="4A55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held April 15–17, 2026.</a:t>
            </a:r>
            <a:endParaRPr lang="en-US" sz="1125" dirty="0"/>
          </a:p>
        </p:txBody>
      </p:sp>
      <p:sp>
        <p:nvSpPr>
          <p:cNvPr id="22" name="Text 15"/>
          <p:cNvSpPr/>
          <p:nvPr/>
        </p:nvSpPr>
        <p:spPr>
          <a:xfrm>
            <a:off x="1295400" y="6866929"/>
            <a:ext cx="2362200" cy="40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50" i="1" dirty="0">
                <a:solidFill>
                  <a:srgbClr val="0F2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Suzie Nicoletti</a:t>
            </a:r>
            <a:endParaRPr lang="en-US" sz="2250" dirty="0"/>
          </a:p>
        </p:txBody>
      </p:sp>
      <p:sp>
        <p:nvSpPr>
          <p:cNvPr id="23" name="Shape 16"/>
          <p:cNvSpPr/>
          <p:nvPr/>
        </p:nvSpPr>
        <p:spPr>
          <a:xfrm>
            <a:off x="1333500" y="7285948"/>
            <a:ext cx="2286000" cy="9525"/>
          </a:xfrm>
          <a:prstGeom prst="rect">
            <a:avLst/>
          </a:prstGeom>
          <a:solidFill>
            <a:srgbClr val="4A55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1295400" y="7390669"/>
            <a:ext cx="2362200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975" b="1" kern="0" spc="59" dirty="0">
                <a:solidFill>
                  <a:srgbClr val="0F29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SUZIE NICOLETTI</a:t>
            </a:r>
            <a:endParaRPr lang="en-US" sz="975" dirty="0"/>
          </a:p>
        </p:txBody>
      </p:sp>
      <p:sp>
        <p:nvSpPr>
          <p:cNvPr id="25" name="Text 18"/>
          <p:cNvSpPr/>
          <p:nvPr/>
        </p:nvSpPr>
        <p:spPr>
          <a:xfrm>
            <a:off x="1295400" y="7575892"/>
            <a:ext cx="2362200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825" kern="0" spc="149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 DIRECTOR</a:t>
            </a:r>
            <a:endParaRPr lang="en-US" sz="825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25" y="6734229"/>
            <a:ext cx="1047750" cy="10477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534400" y="6866929"/>
            <a:ext cx="2362200" cy="40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50" i="1" dirty="0">
                <a:solidFill>
                  <a:srgbClr val="0F294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V. Santosh</a:t>
            </a:r>
            <a:endParaRPr lang="en-US" sz="2250" dirty="0"/>
          </a:p>
        </p:txBody>
      </p:sp>
      <p:sp>
        <p:nvSpPr>
          <p:cNvPr id="28" name="Shape 20"/>
          <p:cNvSpPr/>
          <p:nvPr/>
        </p:nvSpPr>
        <p:spPr>
          <a:xfrm>
            <a:off x="8572500" y="7285948"/>
            <a:ext cx="2286000" cy="9525"/>
          </a:xfrm>
          <a:prstGeom prst="rect">
            <a:avLst/>
          </a:prstGeom>
          <a:solidFill>
            <a:srgbClr val="4A55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1"/>
          <p:cNvSpPr/>
          <p:nvPr/>
        </p:nvSpPr>
        <p:spPr>
          <a:xfrm>
            <a:off x="8534400" y="7390669"/>
            <a:ext cx="2362200" cy="18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975" b="1" kern="0" spc="59" dirty="0">
                <a:solidFill>
                  <a:srgbClr val="0F29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VANGUR SANTOSH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8534400" y="7575892"/>
            <a:ext cx="2362200" cy="167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825" kern="0" spc="149" dirty="0">
                <a:solidFill>
                  <a:srgbClr val="6B75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AI PRACTICE</a:t>
            </a:r>
            <a:endParaRPr lang="en-US" sz="825" dirty="0"/>
          </a:p>
        </p:txBody>
      </p:sp>
      <p:sp>
        <p:nvSpPr>
          <p:cNvPr id="31" name="Text 23"/>
          <p:cNvSpPr/>
          <p:nvPr/>
        </p:nvSpPr>
        <p:spPr>
          <a:xfrm>
            <a:off x="762000" y="7965552"/>
            <a:ext cx="2030854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120" dirty="0">
                <a:solidFill>
                  <a:srgbClr val="6B75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CERT ID </a:t>
            </a:r>
            <a:r>
              <a:rPr lang="en-US" sz="750" kern="0" spc="120" dirty="0">
                <a:solidFill>
                  <a:srgbClr val="4A55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AM-2026-04-AK-0317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5516788" y="7965552"/>
            <a:ext cx="1451778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120" dirty="0">
                <a:solidFill>
                  <a:srgbClr val="6B75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ISSUED </a:t>
            </a:r>
            <a:r>
              <a:rPr lang="en-US" sz="750" kern="0" spc="120" dirty="0">
                <a:solidFill>
                  <a:srgbClr val="4A55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APR 2026</a:t>
            </a:r>
            <a:endParaRPr lang="en-US" sz="750" dirty="0"/>
          </a:p>
        </p:txBody>
      </p:sp>
      <p:sp>
        <p:nvSpPr>
          <p:cNvPr id="33" name="Text 25"/>
          <p:cNvSpPr/>
          <p:nvPr/>
        </p:nvSpPr>
        <p:spPr>
          <a:xfrm>
            <a:off x="9692499" y="7965552"/>
            <a:ext cx="1813701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120" dirty="0">
                <a:solidFill>
                  <a:srgbClr val="6B75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VERIFY </a:t>
            </a:r>
            <a:r>
              <a:rPr lang="en-US" sz="750" kern="0" spc="120" dirty="0">
                <a:solidFill>
                  <a:srgbClr val="4A55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ASKMAC.AI/VERIFY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83</Words>
  <Application>Microsoft Office PowerPoint</Application>
  <PresentationFormat>Custom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Cormorant Garamond</vt:lpstr>
      <vt:lpstr>Inter</vt:lpstr>
      <vt:lpstr>JetBrains Mono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gowtham kumar agore ravindranath</cp:lastModifiedBy>
  <cp:revision>2</cp:revision>
  <dcterms:created xsi:type="dcterms:W3CDTF">2026-05-07T17:44:19Z</dcterms:created>
  <dcterms:modified xsi:type="dcterms:W3CDTF">2026-05-07T17:51:40Z</dcterms:modified>
</cp:coreProperties>
</file>